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48536f1a484e3f" /><Relationship Type="http://schemas.openxmlformats.org/officeDocument/2006/relationships/extended-properties" Target="/docProps/app.xml" Id="R472aef67471c4138" /><Relationship Type="http://schemas.openxmlformats.org/officeDocument/2006/relationships/officeDocument" Target="/ppt/presentation.xml" Id="Rbf7745aec4f748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dcc4b10b3a443c"/>
  </p:sldMasterIdLst>
  <p:notesMasterIdLst>
    <p:notesMasterId xmlns:r="http://schemas.openxmlformats.org/officeDocument/2006/relationships" r:id="R89e3ec43fcd342ca"/>
  </p:notesMasterIdLst>
  <p:sldIdLst>
    <p:sldId xmlns:r="http://schemas.openxmlformats.org/officeDocument/2006/relationships" id="256" r:id="R52d9a48dd8034f5a"/>
    <p:sldId xmlns:r="http://schemas.openxmlformats.org/officeDocument/2006/relationships" id="257" r:id="R9f91f7c377ba4119"/>
    <p:sldId xmlns:r="http://schemas.openxmlformats.org/officeDocument/2006/relationships" id="258" r:id="R00dbb46a27354afa"/>
    <p:sldId xmlns:r="http://schemas.openxmlformats.org/officeDocument/2006/relationships" id="259" r:id="R140f98a76b4941d6"/>
    <p:sldId xmlns:r="http://schemas.openxmlformats.org/officeDocument/2006/relationships" id="260" r:id="Re42cf473cfdc464b"/>
    <p:sldId xmlns:r="http://schemas.openxmlformats.org/officeDocument/2006/relationships" id="261" r:id="Rdde715868e0d4c5b"/>
    <p:sldId xmlns:r="http://schemas.openxmlformats.org/officeDocument/2006/relationships" id="262" r:id="Rd317abdab9004a34"/>
    <p:sldId xmlns:r="http://schemas.openxmlformats.org/officeDocument/2006/relationships" id="263" r:id="Ra2a3ab887d01406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369e4e3dcc4b29" /><Relationship Type="http://schemas.openxmlformats.org/officeDocument/2006/relationships/slideMaster" Target="/ppt/slideMasters/slideMaster1.xml" Id="Rb3dcc4b10b3a443c" /><Relationship Type="http://schemas.openxmlformats.org/officeDocument/2006/relationships/notesMaster" Target="/ppt/notesMasters/notesMaster1.xml" Id="R89e3ec43fcd342ca" /><Relationship Type="http://schemas.openxmlformats.org/officeDocument/2006/relationships/presProps" Target="/ppt/presProps.xml" Id="Rf4165248500b48d7" /><Relationship Type="http://schemas.openxmlformats.org/officeDocument/2006/relationships/tableStyles" Target="/ppt/tableStyles.xml" Id="R56557915a1b94aa6" /><Relationship Type="http://schemas.openxmlformats.org/officeDocument/2006/relationships/slide" Target="/ppt/slides/slide1.xml" Id="R52d9a48dd8034f5a" /><Relationship Type="http://schemas.openxmlformats.org/officeDocument/2006/relationships/slide" Target="/ppt/slides/slide2.xml" Id="R9f91f7c377ba4119" /><Relationship Type="http://schemas.openxmlformats.org/officeDocument/2006/relationships/slide" Target="/ppt/slides/slide3.xml" Id="R00dbb46a27354afa" /><Relationship Type="http://schemas.openxmlformats.org/officeDocument/2006/relationships/slide" Target="/ppt/slides/slide4.xml" Id="R140f98a76b4941d6" /><Relationship Type="http://schemas.openxmlformats.org/officeDocument/2006/relationships/slide" Target="/ppt/slides/slide5.xml" Id="Re42cf473cfdc464b" /><Relationship Type="http://schemas.openxmlformats.org/officeDocument/2006/relationships/slide" Target="/ppt/slides/slide6.xml" Id="Rdde715868e0d4c5b" /><Relationship Type="http://schemas.openxmlformats.org/officeDocument/2006/relationships/slide" Target="/ppt/slides/slide7.xml" Id="Rd317abdab9004a34" /><Relationship Type="http://schemas.openxmlformats.org/officeDocument/2006/relationships/slide" Target="/ppt/slides/slide8.xml" Id="Ra2a3ab887d0140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c928b5582849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ec7fa8e9624514" /><Relationship Type="http://schemas.openxmlformats.org/officeDocument/2006/relationships/notesMaster" Target="/ppt/notesMasters/notesMaster1.xml" Id="R1e01411e012941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18fbc455b04133" /><Relationship Type="http://schemas.openxmlformats.org/officeDocument/2006/relationships/notesMaster" Target="/ppt/notesMasters/notesMaster1.xml" Id="Rb932abed37be47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e8c2c5c6514dc0" /><Relationship Type="http://schemas.openxmlformats.org/officeDocument/2006/relationships/notesMaster" Target="/ppt/notesMasters/notesMaster1.xml" Id="R854dbd791cd94b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2206d2b2e94848" /><Relationship Type="http://schemas.openxmlformats.org/officeDocument/2006/relationships/notesMaster" Target="/ppt/notesMasters/notesMaster1.xml" Id="Rd82fb93728be4e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2cc6fc52334935" /><Relationship Type="http://schemas.openxmlformats.org/officeDocument/2006/relationships/notesMaster" Target="/ppt/notesMasters/notesMaster1.xml" Id="R9bd4a111238947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12580ca0d244ce" /><Relationship Type="http://schemas.openxmlformats.org/officeDocument/2006/relationships/notesMaster" Target="/ppt/notesMasters/notesMaster1.xml" Id="R9569d756102b4f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956d9e5a8143bc" /><Relationship Type="http://schemas.openxmlformats.org/officeDocument/2006/relationships/notesMaster" Target="/ppt/notesMasters/notesMaster1.xml" Id="R0fe78475d18a42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450ce7f78e47e8" /><Relationship Type="http://schemas.openxmlformats.org/officeDocument/2006/relationships/notesMaster" Target="/ppt/notesMasters/notesMaster1.xml" Id="R2e9baf7de0324d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5d8d0552514c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218060937746c9" /><Relationship Type="http://schemas.openxmlformats.org/officeDocument/2006/relationships/slideLayout" Target="/ppt/slideLayouts/slideLayout1.xml" Id="R77119cd905f042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119cd905f042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f45555fea47f2" /><Relationship Type="http://schemas.openxmlformats.org/officeDocument/2006/relationships/notesSlide" Target="/ppt/notesSlides/notesSlide1.xml" Id="Rbf53c68827204b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91f08fec54fc6" /><Relationship Type="http://schemas.openxmlformats.org/officeDocument/2006/relationships/notesSlide" Target="/ppt/notesSlides/notesSlide2.xml" Id="Rca2f4aba2a0e4d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964616fbd4042" /><Relationship Type="http://schemas.openxmlformats.org/officeDocument/2006/relationships/notesSlide" Target="/ppt/notesSlides/notesSlide3.xml" Id="Red56020d873d45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0289281024146" /><Relationship Type="http://schemas.openxmlformats.org/officeDocument/2006/relationships/notesSlide" Target="/ppt/notesSlides/notesSlide4.xml" Id="Ra89cfe30f5bb4d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9a55b389c491e" /><Relationship Type="http://schemas.openxmlformats.org/officeDocument/2006/relationships/notesSlide" Target="/ppt/notesSlides/notesSlide5.xml" Id="R04826b5d3d1d4b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2cd906add454b" /><Relationship Type="http://schemas.openxmlformats.org/officeDocument/2006/relationships/chart" Target="/ppt/slides/charts/chart1.xml" Id="R9ad8cdc70717425f" /><Relationship Type="http://schemas.openxmlformats.org/officeDocument/2006/relationships/notesSlide" Target="/ppt/notesSlides/notesSlide6.xml" Id="Rc8b6cd8a79b345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27924485e411e" /><Relationship Type="http://schemas.openxmlformats.org/officeDocument/2006/relationships/notesSlide" Target="/ppt/notesSlides/notesSlide7.xml" Id="R99113312bc624f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c884c68bf47d3" /><Relationship Type="http://schemas.openxmlformats.org/officeDocument/2006/relationships/notesSlide" Target="/ppt/notesSlides/notesSlide8.xml" Id="R0e58569c231f4ee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Longest streak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5"/>
              <c:pt idx="0">
                <c:v>Read</c:v>
              </c:pt>
              <c:pt idx="1">
                <c:v>Wake &lt;7</c:v>
              </c:pt>
              <c:pt idx="2">
                <c:v>Learn</c:v>
              </c:pt>
              <c:pt idx="3">
                <c:v>Reflect</c:v>
              </c:pt>
              <c:pt idx="4">
                <c:v>Exercise</c:v>
              </c:pt>
            </c:strLit>
          </c:cat>
          <c:val>
            <c:numLit>
              <c:formatCode>General</c:formatCode>
              <c:ptCount val="5"/>
              <c:pt idx="0">
                <c:v>28</c:v>
              </c:pt>
              <c:pt idx="1">
                <c:v>15</c:v>
              </c:pt>
              <c:pt idx="2">
                <c:v>5</c:v>
              </c:pt>
              <c:pt idx="3">
                <c:v>4</c:v>
              </c:pt>
              <c:pt idx="4">
                <c:v>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tudent-course">
            <a:extLst xmlns:a="http://schemas.openxmlformats.org/drawingml/2006/main">
              <a:ext uri="{FF2B5EF4-FFF2-40B4-BE49-F238E27FC236}">
                <a16:creationId xmlns:a16="http://schemas.microsoft.com/office/drawing/2014/main" id="{762AD3F6-FECD-453F-802F-24F4E5B2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762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35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A6472"/>
                </a:solidFill>
                <a:latin typeface="Arial"/>
                <a:ea typeface="Arial"/>
                <a:cs typeface="Arial"/>
              </a:rPr>
              <a:t>VINICIUS DA SILVA LOPES  ·  321147876  ·  DLBDSOOFPP01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2902194-7E6A-4025-A6F0-5322BCF2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00125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175 Days</a:t>
            </a:r>
            <a:r>
              <a:rPr sz="6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
Lifestyle Challenge</a:t>
            </a:r>
          </a:p>
        </p:txBody>
      </p:sp>
      <p:sp>
        <p:nvSpPr>
          <p:cNvPr id="3" name="cover-accent-rule">
            <a:extLst xmlns:a="http://schemas.openxmlformats.org/drawingml/2006/main">
              <a:ext uri="{FF2B5EF4-FFF2-40B4-BE49-F238E27FC236}">
                <a16:creationId xmlns:a16="http://schemas.microsoft.com/office/drawing/2014/main" id="{E15BAA82-A61F-4EE0-9FC5-A8095D47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14850"/>
            <a:ext cx="1181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F4C3F35-D301-4AA0-B496-1DB0F171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10125"/>
            <a:ext cx="72390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50"/>
              </a:spcAft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Development &amp; reflection phase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A6472"/>
                </a:solidFill>
                <a:latin typeface="Arial"/>
                <a:ea typeface="Arial"/>
                <a:cs typeface="Arial"/>
              </a:rPr>
              <a:t>A tested Python tracker for daily and weekly progress</a:t>
            </a:r>
          </a:p>
        </p:txBody>
      </p:sp>
    </p:spTree>
    <p:extLst>
      <p:ext uri="{BB962C8B-B14F-4D97-AF65-F5344CB8AC3E}">
        <p14:creationId xmlns:p14="http://schemas.microsoft.com/office/powerpoint/2010/main" val="17261802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36EA74-98D2-46CF-B25B-535B493B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175 days makes progress ambitious yet finishable</a:t>
            </a:r>
          </a:p>
        </p:txBody>
      </p:sp>
      <p:sp>
        <p:nvSpPr>
          <p:cNvPr id="2" name="rationale-body">
            <a:extLst xmlns:a="http://schemas.openxmlformats.org/drawingml/2006/main">
              <a:ext uri="{FF2B5EF4-FFF2-40B4-BE49-F238E27FC236}">
                <a16:creationId xmlns:a16="http://schemas.microsoft.com/office/drawing/2014/main" id="{2937B499-BD2F-4EA0-91CB-68ABA911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239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725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A6472"/>
                </a:solidFill>
                <a:latin typeface="Arial"/>
                <a:ea typeface="Arial"/>
                <a:cs typeface="Arial"/>
              </a:rPr>
              <a:t>The challenge is long enough for repeated daily and weekly actions to become visible, yet finite enough to feel approachable. It is a product milestone, not a scientific guarantee of behaviour change.</a:t>
            </a:r>
          </a:p>
        </p:txBody>
      </p:sp>
      <p:sp>
        <p:nvSpPr>
          <p:cNvPr id="3" name="rationale-card-1">
            <a:extLst xmlns:a="http://schemas.openxmlformats.org/drawingml/2006/main">
              <a:ext uri="{FF2B5EF4-FFF2-40B4-BE49-F238E27FC236}">
                <a16:creationId xmlns:a16="http://schemas.microsoft.com/office/drawing/2014/main" id="{5AE9EB99-33D0-40DA-82A6-4B893E71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8F4FF"/>
          </a:solidFill>
        </p:spPr>
      </p:sp>
      <p:sp>
        <p:nvSpPr>
          <p:cNvPr id="4" name="rationale-stat-1">
            <a:extLst xmlns:a="http://schemas.openxmlformats.org/drawingml/2006/main">
              <a:ext uri="{FF2B5EF4-FFF2-40B4-BE49-F238E27FC236}">
                <a16:creationId xmlns:a16="http://schemas.microsoft.com/office/drawing/2014/main" id="{524BAA0A-1C0A-4CC0-862D-A99645DA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68" y="3429000"/>
            <a:ext cx="29337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4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175</a:t>
            </a:r>
          </a:p>
        </p:txBody>
      </p:sp>
      <p:sp>
        <p:nvSpPr>
          <p:cNvPr id="5" name="rationale-copy-1">
            <a:extLst xmlns:a="http://schemas.openxmlformats.org/drawingml/2006/main">
              <a:ext uri="{FF2B5EF4-FFF2-40B4-BE49-F238E27FC236}">
                <a16:creationId xmlns:a16="http://schemas.microsoft.com/office/drawing/2014/main" id="{3E25AE2A-6894-4FFE-87D7-50B8D8FA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68" y="4905375"/>
            <a:ext cx="294322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days
A clear finish line under six months</a:t>
            </a:r>
          </a:p>
        </p:txBody>
      </p:sp>
      <p:sp>
        <p:nvSpPr>
          <p:cNvPr id="6" name="rationale-card-2">
            <a:extLst xmlns:a="http://schemas.openxmlformats.org/drawingml/2006/main">
              <a:ext uri="{FF2B5EF4-FFF2-40B4-BE49-F238E27FC236}">
                <a16:creationId xmlns:a16="http://schemas.microsoft.com/office/drawing/2014/main" id="{18B58E61-FFC5-4866-ACFE-68CEBD79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rationale-stat-2">
            <a:extLst xmlns:a="http://schemas.openxmlformats.org/drawingml/2006/main">
              <a:ext uri="{FF2B5EF4-FFF2-40B4-BE49-F238E27FC236}">
                <a16:creationId xmlns:a16="http://schemas.microsoft.com/office/drawing/2014/main" id="{0DB2473A-989F-41CD-BD09-27911FB4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82" y="3429000"/>
            <a:ext cx="29337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4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" name="rationale-copy-2">
            <a:extLst xmlns:a="http://schemas.openxmlformats.org/drawingml/2006/main">
              <a:ext uri="{FF2B5EF4-FFF2-40B4-BE49-F238E27FC236}">
                <a16:creationId xmlns:a16="http://schemas.microsoft.com/office/drawing/2014/main" id="{DDA2759A-C4C1-4DBB-A295-EE50DC1D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82" y="4905375"/>
            <a:ext cx="294322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starting habits
Useful from the first launch</a:t>
            </a:r>
          </a:p>
        </p:txBody>
      </p:sp>
      <p:sp>
        <p:nvSpPr>
          <p:cNvPr id="9" name="rationale-card-3">
            <a:extLst xmlns:a="http://schemas.openxmlformats.org/drawingml/2006/main">
              <a:ext uri="{FF2B5EF4-FFF2-40B4-BE49-F238E27FC236}">
                <a16:creationId xmlns:a16="http://schemas.microsoft.com/office/drawing/2014/main" id="{19B04738-32EC-403D-B9E4-628E6AB7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rationale-stat-3">
            <a:extLst xmlns:a="http://schemas.openxmlformats.org/drawingml/2006/main">
              <a:ext uri="{FF2B5EF4-FFF2-40B4-BE49-F238E27FC236}">
                <a16:creationId xmlns:a16="http://schemas.microsoft.com/office/drawing/2014/main" id="{5047CA6E-8570-44B0-9C74-5DA50D39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067" y="3429000"/>
            <a:ext cx="29337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4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rationale-copy-3">
            <a:extLst xmlns:a="http://schemas.openxmlformats.org/drawingml/2006/main">
              <a:ext uri="{FF2B5EF4-FFF2-40B4-BE49-F238E27FC236}">
                <a16:creationId xmlns:a16="http://schemas.microsoft.com/office/drawing/2014/main" id="{EF694D86-1E09-4BDB-837B-EC4B0EE8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067" y="4905375"/>
            <a:ext cx="294322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supported periods
Daily and weekly</a:t>
            </a:r>
          </a:p>
        </p:txBody>
      </p:sp>
      <p:sp>
        <p:nvSpPr>
          <p:cNvPr id="12" name="source-2">
            <a:extLst xmlns:a="http://schemas.openxmlformats.org/drawingml/2006/main">
              <a:ext uri="{FF2B5EF4-FFF2-40B4-BE49-F238E27FC236}">
                <a16:creationId xmlns:a16="http://schemas.microsoft.com/office/drawing/2014/main" id="{F70EA355-BFAD-49DD-BB74-72515503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788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A6472"/>
                </a:solidFill>
                <a:latin typeface="Arial"/>
                <a:ea typeface="Arial"/>
                <a:cs typeface="Arial"/>
              </a:rPr>
              <a:t>Product rationale refined from the conception-phase tutor feedback.</a:t>
            </a:r>
          </a:p>
        </p:txBody>
      </p:sp>
      <p:sp>
        <p:nvSpPr>
          <p:cNvPr id="13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C83F72C9-9598-4B30-925F-CB44FD1B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709145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7A3E2F-91E1-473B-842C-534A8A38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simple actions carry the whole journey</a:t>
            </a:r>
          </a:p>
        </p:txBody>
      </p:sp>
      <p:cxnSp>
        <p:nvCxnSpPr>
          <p:cNvPr id="14" name="journey-line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node-1">
            <a:extLst xmlns:a="http://schemas.openxmlformats.org/drawingml/2006/main">
              <a:ext uri="{FF2B5EF4-FFF2-40B4-BE49-F238E27FC236}">
                <a16:creationId xmlns:a16="http://schemas.microsoft.com/office/drawing/2014/main" id="{09855EE7-2283-4045-AE42-344010C5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18" y="3301175"/>
            <a:ext cx="145161" cy="1451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636A31EF-9D91-4F4C-90AC-67DAE558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0"/>
            <a:ext cx="20955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0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A6472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5" name="journey-copy-1">
            <a:extLst xmlns:a="http://schemas.openxmlformats.org/drawingml/2006/main">
              <a:ext uri="{FF2B5EF4-FFF2-40B4-BE49-F238E27FC236}">
                <a16:creationId xmlns:a16="http://schemas.microsoft.com/office/drawing/2014/main" id="{140A6D39-1B28-4931-8568-9EC361ED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822668"/>
            <a:ext cx="3156109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1. Create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Define a clear task and choose a daily or weekly period.</a:t>
            </a:r>
          </a:p>
        </p:txBody>
      </p:sp>
      <p:sp>
        <p:nvSpPr>
          <p:cNvPr id="6" name="journey-node-2">
            <a:extLst xmlns:a="http://schemas.openxmlformats.org/drawingml/2006/main">
              <a:ext uri="{FF2B5EF4-FFF2-40B4-BE49-F238E27FC236}">
                <a16:creationId xmlns:a16="http://schemas.microsoft.com/office/drawing/2014/main" id="{5CCFB55B-19A3-421C-A78C-92BBF963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293" y="3301175"/>
            <a:ext cx="145161" cy="1451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7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963C5C3F-49F2-4D16-AF08-BD842A2A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2857500"/>
            <a:ext cx="20955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0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A6472"/>
                </a:solidFill>
                <a:latin typeface="Arial"/>
                <a:ea typeface="Arial"/>
                <a:cs typeface="Arial"/>
              </a:rPr>
              <a:t>EACH PERIOD</a:t>
            </a:r>
          </a:p>
        </p:txBody>
      </p:sp>
      <p:sp>
        <p:nvSpPr>
          <p:cNvPr id="8" name="journey-copy-2">
            <a:extLst xmlns:a="http://schemas.openxmlformats.org/drawingml/2006/main">
              <a:ext uri="{FF2B5EF4-FFF2-40B4-BE49-F238E27FC236}">
                <a16:creationId xmlns:a16="http://schemas.microsoft.com/office/drawing/2014/main" id="{7345C12B-4D20-41CE-BD1A-33150E19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3822668"/>
            <a:ext cx="3156109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2. Check off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completion counts in the active calendar period.</a:t>
            </a:r>
          </a:p>
        </p:txBody>
      </p:sp>
      <p:sp>
        <p:nvSpPr>
          <p:cNvPr id="9" name="journey-node-3">
            <a:extLst xmlns:a="http://schemas.openxmlformats.org/drawingml/2006/main">
              <a:ext uri="{FF2B5EF4-FFF2-40B4-BE49-F238E27FC236}">
                <a16:creationId xmlns:a16="http://schemas.microsoft.com/office/drawing/2014/main" id="{DBBD3BC1-3666-426E-B018-E12AE867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593" y="3301175"/>
            <a:ext cx="145161" cy="1451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0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7FC1872A-FDDC-4D8A-B9CC-FF75CB1C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743" y="2857500"/>
            <a:ext cx="20955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0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A6472"/>
                </a:solidFill>
                <a:latin typeface="Arial"/>
                <a:ea typeface="Arial"/>
                <a:cs typeface="Arial"/>
              </a:rPr>
              <a:t>ANY TIME</a:t>
            </a:r>
          </a:p>
        </p:txBody>
      </p:sp>
      <p:sp>
        <p:nvSpPr>
          <p:cNvPr id="11" name="journey-copy-3">
            <a:extLst xmlns:a="http://schemas.openxmlformats.org/drawingml/2006/main">
              <a:ext uri="{FF2B5EF4-FFF2-40B4-BE49-F238E27FC236}">
                <a16:creationId xmlns:a16="http://schemas.microsoft.com/office/drawing/2014/main" id="{682C25DF-F363-4801-9434-7A0A2D01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743" y="3822668"/>
            <a:ext cx="3156109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3. Learn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Compare longest streaks and decide what to improve next.</a:t>
            </a:r>
          </a:p>
        </p:txBody>
      </p:sp>
      <p:sp>
        <p:nvSpPr>
          <p:cNvPr id="12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6ABB06CA-6954-4D14-BBB6-D958674D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712867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8DA543-2448-4D1B-9A43-D8F1A779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Five starting habits make day one useful</a:t>
            </a:r>
          </a:p>
        </p:txBody>
      </p:sp>
      <p:sp>
        <p:nvSpPr>
          <p:cNvPr id="2" name="weekly-panel">
            <a:extLst xmlns:a="http://schemas.openxmlformats.org/drawingml/2006/main">
              <a:ext uri="{FF2B5EF4-FFF2-40B4-BE49-F238E27FC236}">
                <a16:creationId xmlns:a16="http://schemas.microsoft.com/office/drawing/2014/main" id="{16F423E8-C772-4150-B1C3-26C1B277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8350"/>
            <a:ext cx="3568732" cy="3952875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E8F4FF"/>
          </a:solidFill>
        </p:spPr>
      </p:sp>
      <p:sp>
        <p:nvSpPr>
          <p:cNvPr id="3" name="weekly-habit">
            <a:extLst xmlns:a="http://schemas.openxmlformats.org/drawingml/2006/main">
              <a:ext uri="{FF2B5EF4-FFF2-40B4-BE49-F238E27FC236}">
                <a16:creationId xmlns:a16="http://schemas.microsoft.com/office/drawing/2014/main" id="{6273796A-64F0-4031-9144-D2822A56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71725"/>
            <a:ext cx="295275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5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 WEEKLY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Write a weekly reflection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472"/>
                </a:solidFill>
                <a:latin typeface="Arial"/>
                <a:ea typeface="Arial"/>
                <a:cs typeface="Arial"/>
              </a:rPr>
              <a:t>Review progress, record how the week felt, and choose one improvement for the next week.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bundled fixture provides four completed weeks.</a:t>
            </a:r>
          </a:p>
        </p:txBody>
      </p:sp>
      <p:sp>
        <p:nvSpPr>
          <p:cNvPr id="4" name="daily-label-1">
            <a:extLst xmlns:a="http://schemas.openxmlformats.org/drawingml/2006/main">
              <a:ext uri="{FF2B5EF4-FFF2-40B4-BE49-F238E27FC236}">
                <a16:creationId xmlns:a16="http://schemas.microsoft.com/office/drawing/2014/main" id="{52F89916-4A5E-4E21-9968-116B67BF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095500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0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DAILY 01</a:t>
            </a:r>
          </a:p>
        </p:txBody>
      </p:sp>
      <p:sp>
        <p:nvSpPr>
          <p:cNvPr id="5" name="daily-habit-1">
            <a:extLst xmlns:a="http://schemas.openxmlformats.org/drawingml/2006/main">
              <a:ext uri="{FF2B5EF4-FFF2-40B4-BE49-F238E27FC236}">
                <a16:creationId xmlns:a16="http://schemas.microsoft.com/office/drawing/2014/main" id="{F1FFAFF6-1F12-47B0-8DEB-452C3FED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95500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Wake before 7 a.m.</a:t>
            </a:r>
          </a:p>
        </p:txBody>
      </p:sp>
      <p:sp>
        <p:nvSpPr>
          <p:cNvPr id="6" name="daily-rule-1">
            <a:extLst xmlns:a="http://schemas.openxmlformats.org/drawingml/2006/main">
              <a:ext uri="{FF2B5EF4-FFF2-40B4-BE49-F238E27FC236}">
                <a16:creationId xmlns:a16="http://schemas.microsoft.com/office/drawing/2014/main" id="{6EE75323-E288-48B8-9330-859CB563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838450"/>
            <a:ext cx="694696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7" name="daily-label-2">
            <a:extLst xmlns:a="http://schemas.openxmlformats.org/drawingml/2006/main">
              <a:ext uri="{FF2B5EF4-FFF2-40B4-BE49-F238E27FC236}">
                <a16:creationId xmlns:a16="http://schemas.microsoft.com/office/drawing/2014/main" id="{CBBD9BC7-CE6A-48F6-B38D-75EEA859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086100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0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DAILY 02</a:t>
            </a:r>
          </a:p>
        </p:txBody>
      </p:sp>
      <p:sp>
        <p:nvSpPr>
          <p:cNvPr id="8" name="daily-habit-2">
            <a:extLst xmlns:a="http://schemas.openxmlformats.org/drawingml/2006/main">
              <a:ext uri="{FF2B5EF4-FFF2-40B4-BE49-F238E27FC236}">
                <a16:creationId xmlns:a16="http://schemas.microsoft.com/office/drawing/2014/main" id="{388AED95-7409-4D2B-B771-9CC184AF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86100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Learn a useful skill for one hour</a:t>
            </a:r>
          </a:p>
        </p:txBody>
      </p:sp>
      <p:sp>
        <p:nvSpPr>
          <p:cNvPr id="9" name="daily-rule-2">
            <a:extLst xmlns:a="http://schemas.openxmlformats.org/drawingml/2006/main">
              <a:ext uri="{FF2B5EF4-FFF2-40B4-BE49-F238E27FC236}">
                <a16:creationId xmlns:a16="http://schemas.microsoft.com/office/drawing/2014/main" id="{E26CB05A-9BB3-4907-9916-E4AA7B78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829050"/>
            <a:ext cx="694696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0" name="daily-label-3">
            <a:extLst xmlns:a="http://schemas.openxmlformats.org/drawingml/2006/main">
              <a:ext uri="{FF2B5EF4-FFF2-40B4-BE49-F238E27FC236}">
                <a16:creationId xmlns:a16="http://schemas.microsoft.com/office/drawing/2014/main" id="{8D68ED68-F906-4DF2-BE98-85115120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076700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0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DAILY 03</a:t>
            </a:r>
          </a:p>
        </p:txBody>
      </p:sp>
      <p:sp>
        <p:nvSpPr>
          <p:cNvPr id="11" name="daily-habit-3">
            <a:extLst xmlns:a="http://schemas.openxmlformats.org/drawingml/2006/main">
              <a:ext uri="{FF2B5EF4-FFF2-40B4-BE49-F238E27FC236}">
                <a16:creationId xmlns:a16="http://schemas.microsoft.com/office/drawing/2014/main" id="{1648475E-B8C9-47E4-9476-89A99C21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76700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 non-fiction for 15 minutes</a:t>
            </a:r>
          </a:p>
        </p:txBody>
      </p:sp>
      <p:sp>
        <p:nvSpPr>
          <p:cNvPr id="12" name="daily-rule-3">
            <a:extLst xmlns:a="http://schemas.openxmlformats.org/drawingml/2006/main">
              <a:ext uri="{FF2B5EF4-FFF2-40B4-BE49-F238E27FC236}">
                <a16:creationId xmlns:a16="http://schemas.microsoft.com/office/drawing/2014/main" id="{0EC3CEB4-089B-4BE5-BBEB-85D1DA5F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819650"/>
            <a:ext cx="694696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3" name="daily-label-4">
            <a:extLst xmlns:a="http://schemas.openxmlformats.org/drawingml/2006/main">
              <a:ext uri="{FF2B5EF4-FFF2-40B4-BE49-F238E27FC236}">
                <a16:creationId xmlns:a16="http://schemas.microsoft.com/office/drawing/2014/main" id="{C0CF85EC-A9E1-4215-B463-2523438C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067300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0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DAILY 04</a:t>
            </a:r>
          </a:p>
        </p:txBody>
      </p:sp>
      <p:sp>
        <p:nvSpPr>
          <p:cNvPr id="14" name="daily-habit-4">
            <a:extLst xmlns:a="http://schemas.openxmlformats.org/drawingml/2006/main">
              <a:ext uri="{FF2B5EF4-FFF2-40B4-BE49-F238E27FC236}">
                <a16:creationId xmlns:a16="http://schemas.microsoft.com/office/drawing/2014/main" id="{98E9969C-366A-4A59-8BA3-EF83E4BC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067300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Exercise for 30 minutes</a:t>
            </a:r>
          </a:p>
        </p:txBody>
      </p:sp>
      <p:sp>
        <p:nvSpPr>
          <p:cNvPr id="15" name="daily-rule-4">
            <a:extLst xmlns:a="http://schemas.openxmlformats.org/drawingml/2006/main">
              <a:ext uri="{FF2B5EF4-FFF2-40B4-BE49-F238E27FC236}">
                <a16:creationId xmlns:a16="http://schemas.microsoft.com/office/drawing/2014/main" id="{844005C5-3490-4692-B01F-83FE706D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810250"/>
            <a:ext cx="694696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6" name="source-4">
            <a:extLst xmlns:a="http://schemas.openxmlformats.org/drawingml/2006/main">
              <a:ext uri="{FF2B5EF4-FFF2-40B4-BE49-F238E27FC236}">
                <a16:creationId xmlns:a16="http://schemas.microsoft.com/office/drawing/2014/main" id="{45FE0EBB-1545-422C-908A-DF63048A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788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A6472"/>
                </a:solidFill>
                <a:latin typeface="Arial"/>
                <a:ea typeface="Arial"/>
                <a:cs typeface="Arial"/>
              </a:rPr>
              <a:t>Fixture: fixtures/four_week_example.json (28 days, 5 habits).</a:t>
            </a:r>
          </a:p>
        </p:txBody>
      </p:sp>
      <p:sp>
        <p:nvSpPr>
          <p:cNvPr id="17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8AF13F81-C4FB-4729-B872-D80C2FCF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872831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7AA1D6-3EC3-47A4-AD28-D164B4D9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layered design keeps every check-off valid and stored</a:t>
            </a:r>
          </a:p>
        </p:txBody>
      </p:sp>
      <p:cxnSp>
        <p:nvCxnSpPr>
          <p:cNvPr id="18" name="architecture-connector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architecture-node-1">
            <a:extLst xmlns:a="http://schemas.openxmlformats.org/drawingml/2006/main">
              <a:ext uri="{FF2B5EF4-FFF2-40B4-BE49-F238E27FC236}">
                <a16:creationId xmlns:a16="http://schemas.microsoft.com/office/drawing/2014/main" id="{8AF9D9E9-22BE-42C4-B3AC-E4E8D634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18" y="5269039"/>
            <a:ext cx="145161" cy="1451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" name="architecture-card-1">
            <a:extLst xmlns:a="http://schemas.openxmlformats.org/drawingml/2006/main">
              <a:ext uri="{FF2B5EF4-FFF2-40B4-BE49-F238E27FC236}">
                <a16:creationId xmlns:a16="http://schemas.microsoft.com/office/drawing/2014/main" id="{45CB1896-60AA-4B96-A967-73DBF4ED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architecture-copy-1">
            <a:extLst xmlns:a="http://schemas.openxmlformats.org/drawingml/2006/main">
              <a:ext uri="{FF2B5EF4-FFF2-40B4-BE49-F238E27FC236}">
                <a16:creationId xmlns:a16="http://schemas.microsoft.com/office/drawing/2014/main" id="{99460FCF-0763-4E38-8CF9-F0FFA5AE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Command-line interface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5A6472"/>
                </a:solidFill>
                <a:latin typeface="Arial"/>
                <a:ea typeface="Arial"/>
                <a:cs typeface="Arial"/>
              </a:rPr>
              <a:t>Turns add, list, check, delete and analytics commands into application calls. It contains no SQL.</a:t>
            </a:r>
          </a:p>
        </p:txBody>
      </p:sp>
      <p:sp>
        <p:nvSpPr>
          <p:cNvPr id="6" name="architecture-label-1">
            <a:extLst xmlns:a="http://schemas.openxmlformats.org/drawingml/2006/main">
              <a:ext uri="{FF2B5EF4-FFF2-40B4-BE49-F238E27FC236}">
                <a16:creationId xmlns:a16="http://schemas.microsoft.com/office/drawing/2014/main" id="{3F0DACC0-E017-4FD6-A2C1-740256CA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7" name="architecture-node-2">
            <a:extLst xmlns:a="http://schemas.openxmlformats.org/drawingml/2006/main">
              <a:ext uri="{FF2B5EF4-FFF2-40B4-BE49-F238E27FC236}">
                <a16:creationId xmlns:a16="http://schemas.microsoft.com/office/drawing/2014/main" id="{9287DA8D-42EA-491C-BB7E-6C38F0B5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293" y="5269039"/>
            <a:ext cx="145161" cy="1451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8" name="architecture-card-2">
            <a:extLst xmlns:a="http://schemas.openxmlformats.org/drawingml/2006/main">
              <a:ext uri="{FF2B5EF4-FFF2-40B4-BE49-F238E27FC236}">
                <a16:creationId xmlns:a16="http://schemas.microsoft.com/office/drawing/2014/main" id="{6CFAD93B-2A1E-41E9-8C77-8DEC663D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E8F4FF"/>
          </a:solidFill>
        </p:spPr>
      </p:sp>
      <p:sp>
        <p:nvSpPr>
          <p:cNvPr id="9" name="architecture-copy-2">
            <a:extLst xmlns:a="http://schemas.openxmlformats.org/drawingml/2006/main">
              <a:ext uri="{FF2B5EF4-FFF2-40B4-BE49-F238E27FC236}">
                <a16:creationId xmlns:a16="http://schemas.microsoft.com/office/drawing/2014/main" id="{E2708D7C-8023-4115-89F3-E9501F14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Python application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5A6472"/>
                </a:solidFill>
                <a:latin typeface="Arial"/>
                <a:ea typeface="Arial"/>
                <a:cs typeface="Arial"/>
              </a:rPr>
              <a:t>Habit validates domain rules. The repository controls persistence. Pure functions calculate streaks.</a:t>
            </a:r>
          </a:p>
        </p:txBody>
      </p:sp>
      <p:sp>
        <p:nvSpPr>
          <p:cNvPr id="10" name="architecture-label-2">
            <a:extLst xmlns:a="http://schemas.openxmlformats.org/drawingml/2006/main">
              <a:ext uri="{FF2B5EF4-FFF2-40B4-BE49-F238E27FC236}">
                <a16:creationId xmlns:a16="http://schemas.microsoft.com/office/drawing/2014/main" id="{7CD6B46F-2925-4C10-883C-30A94554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LOGIC</a:t>
            </a:r>
          </a:p>
        </p:txBody>
      </p:sp>
      <p:sp>
        <p:nvSpPr>
          <p:cNvPr id="11" name="architecture-node-3">
            <a:extLst xmlns:a="http://schemas.openxmlformats.org/drawingml/2006/main">
              <a:ext uri="{FF2B5EF4-FFF2-40B4-BE49-F238E27FC236}">
                <a16:creationId xmlns:a16="http://schemas.microsoft.com/office/drawing/2014/main" id="{2A54FC17-68E3-46AB-B7CB-AE0DF386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356" y="5269039"/>
            <a:ext cx="145161" cy="1451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2" name="architecture-card-3">
            <a:extLst xmlns:a="http://schemas.openxmlformats.org/drawingml/2006/main">
              <a:ext uri="{FF2B5EF4-FFF2-40B4-BE49-F238E27FC236}">
                <a16:creationId xmlns:a16="http://schemas.microsoft.com/office/drawing/2014/main" id="{37D164EC-AE41-41E6-88A3-35FF6092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3" name="architecture-copy-3">
            <a:extLst xmlns:a="http://schemas.openxmlformats.org/drawingml/2006/main">
              <a:ext uri="{FF2B5EF4-FFF2-40B4-BE49-F238E27FC236}">
                <a16:creationId xmlns:a16="http://schemas.microsoft.com/office/drawing/2014/main" id="{CDC6211D-932A-4A88-A6EE-E7FF1D80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SQLite database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5A6472"/>
                </a:solidFill>
                <a:latin typeface="Arial"/>
                <a:ea typeface="Arial"/>
                <a:cs typeface="Arial"/>
              </a:rPr>
              <a:t>Habit definitions and completion timestamps persist locally with indexed lookups and cascade deletion.</a:t>
            </a:r>
          </a:p>
        </p:txBody>
      </p:sp>
      <p:sp>
        <p:nvSpPr>
          <p:cNvPr id="14" name="architecture-label-3">
            <a:extLst xmlns:a="http://schemas.openxmlformats.org/drawingml/2006/main">
              <a:ext uri="{FF2B5EF4-FFF2-40B4-BE49-F238E27FC236}">
                <a16:creationId xmlns:a16="http://schemas.microsoft.com/office/drawing/2014/main" id="{DB9F90D0-8C11-4DD1-9C4A-8DDF2963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5" name="source-5">
            <a:extLst xmlns:a="http://schemas.openxmlformats.org/drawingml/2006/main">
              <a:ext uri="{FF2B5EF4-FFF2-40B4-BE49-F238E27FC236}">
                <a16:creationId xmlns:a16="http://schemas.microsoft.com/office/drawing/2014/main" id="{B662AA8D-40A0-4A96-9741-0A589208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788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A6472"/>
                </a:solidFill>
                <a:latin typeface="Arial"/>
                <a:ea typeface="Arial"/>
                <a:cs typeface="Arial"/>
              </a:rPr>
              <a:t>Course concepts: classes/objects and SQLite; architecture refined from tutor feedback.</a:t>
            </a:r>
          </a:p>
        </p:txBody>
      </p:sp>
      <p:sp>
        <p:nvSpPr>
          <p:cNvPr id="16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13B0EE29-F48F-4597-871E-E568C809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834289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nalytics-title">
            <a:extLst xmlns:a="http://schemas.openxmlformats.org/drawingml/2006/main">
              <a:ext uri="{FF2B5EF4-FFF2-40B4-BE49-F238E27FC236}">
                <a16:creationId xmlns:a16="http://schemas.microsoft.com/office/drawing/2014/main" id="{02ABEA91-503E-4D2C-95AB-CB891062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619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Fixture data proves the analytics</a:t>
            </a:r>
          </a:p>
        </p:txBody>
      </p:sp>
      <p:sp>
        <p:nvSpPr>
          <p:cNvPr id="2" name="chart-label">
            <a:extLst xmlns:a="http://schemas.openxmlformats.org/drawingml/2006/main">
              <a:ext uri="{FF2B5EF4-FFF2-40B4-BE49-F238E27FC236}">
                <a16:creationId xmlns:a16="http://schemas.microsoft.com/office/drawing/2014/main" id="{134EFBB7-E72A-400F-97AB-6C32C8AC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18" y="99060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05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A6472"/>
                </a:solidFill>
                <a:latin typeface="Arial"/>
                <a:ea typeface="Arial"/>
                <a:cs typeface="Arial"/>
              </a:rPr>
              <a:t>LONGEST STREAK · PERIODS</a:t>
            </a:r>
          </a:p>
        </p:txBody>
      </p:sp>
      <p:sp>
        <p:nvSpPr>
          <p:cNvPr id="3" name="insight-card-1">
            <a:extLst xmlns:a="http://schemas.openxmlformats.org/drawingml/2006/main">
              <a:ext uri="{FF2B5EF4-FFF2-40B4-BE49-F238E27FC236}">
                <a16:creationId xmlns:a16="http://schemas.microsoft.com/office/drawing/2014/main" id="{8E82D728-712E-4347-9226-56080618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393668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insight-copy-1">
            <a:extLst xmlns:a="http://schemas.openxmlformats.org/drawingml/2006/main">
              <a:ext uri="{FF2B5EF4-FFF2-40B4-BE49-F238E27FC236}">
                <a16:creationId xmlns:a16="http://schemas.microsoft.com/office/drawing/2014/main" id="{5FB1BA87-84F8-4F4A-92DF-3F65D451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688943"/>
            <a:ext cx="4986909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Pure functions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5A6472"/>
                </a:solidFill>
                <a:latin typeface="Arial"/>
                <a:ea typeface="Arial"/>
                <a:cs typeface="Arial"/>
              </a:rPr>
              <a:t>map, filter and reduce calculate results without database access or mutation.</a:t>
            </a:r>
          </a:p>
        </p:txBody>
      </p:sp>
      <p:sp>
        <p:nvSpPr>
          <p:cNvPr id="5" name="insight-card-2">
            <a:extLst xmlns:a="http://schemas.openxmlformats.org/drawingml/2006/main">
              <a:ext uri="{FF2B5EF4-FFF2-40B4-BE49-F238E27FC236}">
                <a16:creationId xmlns:a16="http://schemas.microsoft.com/office/drawing/2014/main" id="{891E68DF-FD7F-4025-A600-BBA1ADFB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87537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insight-copy-2">
            <a:extLst xmlns:a="http://schemas.openxmlformats.org/drawingml/2006/main">
              <a:ext uri="{FF2B5EF4-FFF2-40B4-BE49-F238E27FC236}">
                <a16:creationId xmlns:a16="http://schemas.microsoft.com/office/drawing/2014/main" id="{1F54AE6E-2ABD-416E-88FB-AC55DC7C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82812"/>
            <a:ext cx="4986909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Both periods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5A6472"/>
                </a:solidFill>
                <a:latin typeface="Arial"/>
                <a:ea typeface="Arial"/>
                <a:cs typeface="Arial"/>
              </a:rPr>
              <a:t>Daily dates and ISO weeks share the same consecutive-period rule.</a:t>
            </a:r>
          </a:p>
        </p:txBody>
      </p:sp>
      <p:sp>
        <p:nvSpPr>
          <p:cNvPr id="7" name="insight-card-3">
            <a:extLst xmlns:a="http://schemas.openxmlformats.org/drawingml/2006/main">
              <a:ext uri="{FF2B5EF4-FFF2-40B4-BE49-F238E27FC236}">
                <a16:creationId xmlns:a16="http://schemas.microsoft.com/office/drawing/2014/main" id="{CCEA3DED-0281-4FF2-9760-B8B15D93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81405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8F4FF"/>
          </a:solidFill>
        </p:spPr>
      </p:sp>
      <p:sp>
        <p:nvSpPr>
          <p:cNvPr id="8" name="insight-copy-3">
            <a:extLst xmlns:a="http://schemas.openxmlformats.org/drawingml/2006/main">
              <a:ext uri="{FF2B5EF4-FFF2-40B4-BE49-F238E27FC236}">
                <a16:creationId xmlns:a16="http://schemas.microsoft.com/office/drawing/2014/main" id="{49A6D0D6-C594-4BE4-9167-2A552FD4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76680"/>
            <a:ext cx="4986909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Fixture result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5A6472"/>
                </a:solidFill>
                <a:latin typeface="Arial"/>
                <a:ea typeface="Arial"/>
                <a:cs typeface="Arial"/>
              </a:rPr>
              <a:t>Reading leads with 28 completed daily periods in a row.</a:t>
            </a:r>
          </a:p>
        </p:txBody>
      </p:sp>
      <p:sp>
        <p:nvSpPr>
          <p:cNvPr id="9" name="source-6">
            <a:extLst xmlns:a="http://schemas.openxmlformats.org/drawingml/2006/main">
              <a:ext uri="{FF2B5EF4-FFF2-40B4-BE49-F238E27FC236}">
                <a16:creationId xmlns:a16="http://schemas.microsoft.com/office/drawing/2014/main" id="{C2C28F2C-E404-4CEA-9AB3-5D570690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788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A6472"/>
                </a:solidFill>
                <a:latin typeface="Arial"/>
                <a:ea typeface="Arial"/>
                <a:cs typeface="Arial"/>
              </a:rPr>
              <a:t>Evidence: repository fixture and passing analytics tests; functional approach follows IU High-order Functions material.</a:t>
            </a:r>
          </a:p>
        </p:txBody>
      </p:sp>
      <p:sp>
        <p:nvSpPr>
          <p:cNvPr id="10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D5D95839-8489-4469-982B-94BBD1CF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08718" y="1257300"/>
          <a:ext xmlns:a="http://schemas.openxmlformats.org/drawingml/2006/main" cx="5191125" cy="5010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d8cdc70717425f"/>
          </a:graphicData>
        </a:graphic>
      </p:graphicFrame>
    </p:spTree>
    <p:extLst>
      <p:ext uri="{BB962C8B-B14F-4D97-AF65-F5344CB8AC3E}">
        <p14:creationId xmlns:p14="http://schemas.microsoft.com/office/powerpoint/2010/main" val="18069454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F776A5-4D0F-426D-AEDD-155D7416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Setup takes one command; daily use stays human-readable</a:t>
            </a:r>
          </a:p>
        </p:txBody>
      </p:sp>
      <p:sp>
        <p:nvSpPr>
          <p:cNvPr id="2" name="terminal-panel">
            <a:extLst xmlns:a="http://schemas.openxmlformats.org/drawingml/2006/main">
              <a:ext uri="{FF2B5EF4-FFF2-40B4-BE49-F238E27FC236}">
                <a16:creationId xmlns:a16="http://schemas.microsoft.com/office/drawing/2014/main" id="{9D69AB42-814A-407B-8302-2F5AA2BF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19250"/>
            <a:ext cx="5533168" cy="4375118"/>
          </a:xfrm>
          <a:prstGeom xmlns:a="http://schemas.openxmlformats.org/drawingml/2006/main" prst="roundRect">
            <a:avLst>
              <a:gd name="adj" fmla="val 1742"/>
            </a:avLst>
          </a:prstGeom>
          <a:solidFill xmlns:a="http://schemas.openxmlformats.org/drawingml/2006/main">
            <a:srgbClr val="14181F"/>
          </a:solidFill>
        </p:spPr>
      </p:sp>
      <p:sp>
        <p:nvSpPr>
          <p:cNvPr id="3" name="terminal-copy">
            <a:extLst xmlns:a="http://schemas.openxmlformats.org/drawingml/2006/main">
              <a:ext uri="{FF2B5EF4-FFF2-40B4-BE49-F238E27FC236}">
                <a16:creationId xmlns:a16="http://schemas.microsoft.com/office/drawing/2014/main" id="{794810F2-3081-4649-9152-4E5EE2A0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52625"/>
            <a:ext cx="4905375" cy="3667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  <a:defRPr sz="1388">
                <a:solidFill>
                  <a:srgbClr val="F5F7FA"/>
                </a:solidFill>
                <a:latin typeface="Courier New"/>
                <a:ea typeface="Courier New"/>
                <a:cs typeface="Courier New"/>
              </a:defRPr>
            </a:pPr>
            <a:r>
              <a:rPr sz="1388" b="0">
                <a:solidFill>
                  <a:srgbClr val="F5F7FA"/>
                </a:solidFill>
                <a:latin typeface="Courier New"/>
                <a:ea typeface="Courier New"/>
                <a:cs typeface="Courier New"/>
              </a:rPr>
              <a:t>$ python main.py init
Created 5 habits + 4 weeks of data
$ python main.py list --periodicity daily
4 daily habits
$ python main.py check 4
Checked off 'Exercise for 30 minutes'
$ python main.py analytics
Overall longest streak: 28 periods</a:t>
            </a:r>
          </a:p>
        </p:txBody>
      </p:sp>
      <p:sp>
        <p:nvSpPr>
          <p:cNvPr id="4" name="usage-copy">
            <a:extLst xmlns:a="http://schemas.openxmlformats.org/drawingml/2006/main">
              <a:ext uri="{FF2B5EF4-FFF2-40B4-BE49-F238E27FC236}">
                <a16:creationId xmlns:a16="http://schemas.microsoft.com/office/drawing/2014/main" id="{0A75DEEB-399E-4EBA-BD7B-A1434E45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1762125"/>
            <a:ext cx="5286375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5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Install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5A6472"/>
                </a:solidFill>
                <a:latin typeface="Arial"/>
                <a:ea typeface="Arial"/>
                <a:cs typeface="Arial"/>
              </a:rPr>
              <a:t>Python 3.7+ is enough; runtime dependencies are all standard library.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5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Track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5A6472"/>
                </a:solidFill>
                <a:latin typeface="Arial"/>
                <a:ea typeface="Arial"/>
                <a:cs typeface="Arial"/>
              </a:rPr>
              <a:t>Use a habit name or numeric ID. Duplicate check-offs in one period are rejected.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5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Verify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5A6472"/>
                </a:solidFill>
                <a:latin typeface="Arial"/>
                <a:ea typeface="Arial"/>
                <a:cs typeface="Arial"/>
              </a:rPr>
              <a:t>Run python -m unittest -v. All eight unit and integration tests pass.</a:t>
            </a:r>
          </a:p>
        </p:txBody>
      </p:sp>
      <p:sp>
        <p:nvSpPr>
          <p:cNvPr id="5" name="source-7">
            <a:extLst xmlns:a="http://schemas.openxmlformats.org/drawingml/2006/main">
              <a:ext uri="{FF2B5EF4-FFF2-40B4-BE49-F238E27FC236}">
                <a16:creationId xmlns:a16="http://schemas.microsoft.com/office/drawing/2014/main" id="{15F2A7F9-1355-4863-B160-02C18190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788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A6472"/>
                </a:solidFill>
                <a:latin typeface="Arial"/>
                <a:ea typeface="Arial"/>
                <a:cs typeface="Arial"/>
              </a:rPr>
              <a:t>Complete installation, usage and test instructions: README.md.</a:t>
            </a:r>
          </a:p>
        </p:txBody>
      </p:sp>
      <p:sp>
        <p:nvSpPr>
          <p:cNvPr id="6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A4886DEE-8A1A-42E3-8791-AE6355BB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133470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0E415F-7899-4EEE-AA81-A52E8EA7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Implementation feedback made the design stronger</a:t>
            </a:r>
          </a:p>
        </p:txBody>
      </p:sp>
      <p:sp>
        <p:nvSpPr>
          <p:cNvPr id="2" name="reflection-intro">
            <a:extLst xmlns:a="http://schemas.openxmlformats.org/drawingml/2006/main">
              <a:ext uri="{FF2B5EF4-FFF2-40B4-BE49-F238E27FC236}">
                <a16:creationId xmlns:a16="http://schemas.microsoft.com/office/drawing/2014/main" id="{600418F7-EF8D-487A-A84F-B088364B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50"/>
              </a:spcAft>
              <a:buNone/>
              <a:defRPr sz="160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A6472"/>
                </a:solidFill>
                <a:latin typeface="Arial"/>
                <a:ea typeface="Arial"/>
                <a:cs typeface="Arial"/>
              </a:rPr>
              <a:t>Tutor feedback questioned why the challenge lasts 175 days and whether the interface should talk directly to the database.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A6472"/>
                </a:solidFill>
                <a:latin typeface="Arial"/>
                <a:ea typeface="Arial"/>
                <a:cs typeface="Arial"/>
              </a:rPr>
              <a:t>Implementation converted both questions into clearer product and architecture decisions.</a:t>
            </a:r>
          </a:p>
        </p:txBody>
      </p:sp>
      <p:sp>
        <p:nvSpPr>
          <p:cNvPr id="3" name="conception-card">
            <a:extLst xmlns:a="http://schemas.openxmlformats.org/drawingml/2006/main">
              <a:ext uri="{FF2B5EF4-FFF2-40B4-BE49-F238E27FC236}">
                <a16:creationId xmlns:a16="http://schemas.microsoft.com/office/drawing/2014/main" id="{CC9C9E03-349F-4434-AF62-88CAF91F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076575"/>
            <a:ext cx="553393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ception-summary">
            <a:extLst xmlns:a="http://schemas.openxmlformats.org/drawingml/2006/main">
              <a:ext uri="{FF2B5EF4-FFF2-40B4-BE49-F238E27FC236}">
                <a16:creationId xmlns:a16="http://schemas.microsoft.com/office/drawing/2014/main" id="{D42FB4D2-FB11-450E-9021-1727195A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314700"/>
            <a:ext cx="4986909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50"/>
              </a:spcAft>
              <a:buNone/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A6472"/>
                </a:solidFill>
                <a:latin typeface="Arial"/>
                <a:ea typeface="Arial"/>
                <a:cs typeface="Arial"/>
              </a:rPr>
              <a:t>CONCEPTION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Interface ↔ database</a:t>
            </a:r>
          </a:p>
        </p:txBody>
      </p:sp>
      <p:sp>
        <p:nvSpPr>
          <p:cNvPr id="5" name="conception-detail">
            <a:extLst xmlns:a="http://schemas.openxmlformats.org/drawingml/2006/main">
              <a:ext uri="{FF2B5EF4-FFF2-40B4-BE49-F238E27FC236}">
                <a16:creationId xmlns:a16="http://schemas.microsoft.com/office/drawing/2014/main" id="{E6BD9F01-F452-41D7-A5B0-B111F289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686300"/>
            <a:ext cx="4953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463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5A6472"/>
                </a:solidFill>
                <a:latin typeface="Arial"/>
                <a:ea typeface="Arial"/>
                <a:cs typeface="Arial"/>
              </a:rPr>
              <a:t>The theme was clear, but the technical boundary was too shallow.</a:t>
            </a:r>
          </a:p>
        </p:txBody>
      </p:sp>
      <p:sp>
        <p:nvSpPr>
          <p:cNvPr id="6" name="implementation-card">
            <a:extLst xmlns:a="http://schemas.openxmlformats.org/drawingml/2006/main">
              <a:ext uri="{FF2B5EF4-FFF2-40B4-BE49-F238E27FC236}">
                <a16:creationId xmlns:a16="http://schemas.microsoft.com/office/drawing/2014/main" id="{71DE79F2-1D8C-4C67-9DE7-886BB134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076575"/>
            <a:ext cx="553393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8F4FF"/>
          </a:solidFill>
        </p:spPr>
      </p:sp>
      <p:sp>
        <p:nvSpPr>
          <p:cNvPr id="7" name="implementation-summary">
            <a:extLst xmlns:a="http://schemas.openxmlformats.org/drawingml/2006/main">
              <a:ext uri="{FF2B5EF4-FFF2-40B4-BE49-F238E27FC236}">
                <a16:creationId xmlns:a16="http://schemas.microsoft.com/office/drawing/2014/main" id="{985A3415-3026-43B8-80B3-DBE4AC48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314700"/>
            <a:ext cx="4986909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50"/>
              </a:spcAft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IMPLEMENTED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 → Python core → SQLite</a:t>
            </a:r>
          </a:p>
        </p:txBody>
      </p:sp>
      <p:sp>
        <p:nvSpPr>
          <p:cNvPr id="8" name="implementation-detail">
            <a:extLst xmlns:a="http://schemas.openxmlformats.org/drawingml/2006/main">
              <a:ext uri="{FF2B5EF4-FFF2-40B4-BE49-F238E27FC236}">
                <a16:creationId xmlns:a16="http://schemas.microsoft.com/office/drawing/2014/main" id="{C25DEA46-BA5B-4597-9B9B-2E10C8F7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686300"/>
            <a:ext cx="4953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463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5A6472"/>
                </a:solidFill>
                <a:latin typeface="Arial"/>
                <a:ea typeface="Arial"/>
                <a:cs typeface="Arial"/>
              </a:rPr>
              <a:t>Repository-backed rules, pure analytics, persistent data and 8/8 passing tests.</a:t>
            </a:r>
          </a:p>
        </p:txBody>
      </p:sp>
      <p:sp>
        <p:nvSpPr>
          <p:cNvPr id="9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D1536888-798F-4C44-9786-4A18C007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24525"/>
            <a:ext cx="1104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0" name="closing-statement">
            <a:extLst xmlns:a="http://schemas.openxmlformats.org/drawingml/2006/main">
              <a:ext uri="{FF2B5EF4-FFF2-40B4-BE49-F238E27FC236}">
                <a16:creationId xmlns:a16="http://schemas.microsoft.com/office/drawing/2014/main" id="{52426D62-8DDE-485A-90D2-0D46E860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895975"/>
            <a:ext cx="971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phase-2 prototype is working, documented and ready for tutor feedback.</a:t>
            </a:r>
          </a:p>
        </p:txBody>
      </p:sp>
      <p:sp>
        <p:nvSpPr>
          <p:cNvPr id="11" name="source-8">
            <a:extLst xmlns:a="http://schemas.openxmlformats.org/drawingml/2006/main">
              <a:ext uri="{FF2B5EF4-FFF2-40B4-BE49-F238E27FC236}">
                <a16:creationId xmlns:a16="http://schemas.microsoft.com/office/drawing/2014/main" id="{EDAB926F-3890-4026-9789-D2468054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788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A6472"/>
                </a:solidFill>
                <a:latin typeface="Arial"/>
                <a:ea typeface="Arial"/>
                <a:cs typeface="Arial"/>
              </a:rPr>
              <a:t>Sources: IU assignment and portfolio guidelines; conception submission; tutor feedback; project source and test suite.</a:t>
            </a:r>
          </a:p>
        </p:txBody>
      </p:sp>
      <p:sp>
        <p:nvSpPr>
          <p:cNvPr id="12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39DAB647-AC5E-4CEC-A700-13D5DAF6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10166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2026-07-18T13:58:37.1930000Z</dcterms:created>
  <dcterms:modified xsi:type="dcterms:W3CDTF">2026-07-18T13:58:37.1930000Z</dcterms:modified>
</coreProperties>
</file>